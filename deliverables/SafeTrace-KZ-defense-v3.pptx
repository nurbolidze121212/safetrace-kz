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3ca47ed2c34b8c" /><Relationship Type="http://schemas.openxmlformats.org/officeDocument/2006/relationships/extended-properties" Target="/docProps/app.xml" Id="R4c2b1661c4a8436c" /><Relationship Type="http://schemas.openxmlformats.org/officeDocument/2006/relationships/officeDocument" Target="/ppt/presentation.xml" Id="Rc30f3a164fc042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f7e48bcc314db9"/>
  </p:sldMasterIdLst>
  <p:notesMasterIdLst>
    <p:notesMasterId xmlns:r="http://schemas.openxmlformats.org/officeDocument/2006/relationships" r:id="R8d97a30500cc4514"/>
  </p:notesMasterIdLst>
  <p:sldIdLst>
    <p:sldId xmlns:r="http://schemas.openxmlformats.org/officeDocument/2006/relationships" id="256" r:id="R4725f6290fd54001"/>
    <p:sldId xmlns:r="http://schemas.openxmlformats.org/officeDocument/2006/relationships" id="257" r:id="R22c23234085e4b09"/>
    <p:sldId xmlns:r="http://schemas.openxmlformats.org/officeDocument/2006/relationships" id="258" r:id="Ra9f3a77f9418431b"/>
    <p:sldId xmlns:r="http://schemas.openxmlformats.org/officeDocument/2006/relationships" id="259" r:id="R8e0104faa68446cd"/>
    <p:sldId xmlns:r="http://schemas.openxmlformats.org/officeDocument/2006/relationships" id="260" r:id="Rce890125678b40ce"/>
    <p:sldId xmlns:r="http://schemas.openxmlformats.org/officeDocument/2006/relationships" id="261" r:id="R7fafb5858cfa48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5d31964e2d4ca8" /><Relationship Type="http://schemas.openxmlformats.org/officeDocument/2006/relationships/slideMaster" Target="/ppt/slideMasters/slideMaster1.xml" Id="R86f7e48bcc314db9" /><Relationship Type="http://schemas.openxmlformats.org/officeDocument/2006/relationships/notesMaster" Target="/ppt/notesMasters/notesMaster1.xml" Id="R8d97a30500cc4514" /><Relationship Type="http://schemas.openxmlformats.org/officeDocument/2006/relationships/presProps" Target="/ppt/presProps.xml" Id="R8254dbf6211e45ac" /><Relationship Type="http://schemas.openxmlformats.org/officeDocument/2006/relationships/tableStyles" Target="/ppt/tableStyles.xml" Id="R36953f6ea99f4100" /><Relationship Type="http://schemas.openxmlformats.org/officeDocument/2006/relationships/slide" Target="/ppt/slides/slide1.xml" Id="R4725f6290fd54001" /><Relationship Type="http://schemas.openxmlformats.org/officeDocument/2006/relationships/slide" Target="/ppt/slides/slide2.xml" Id="R22c23234085e4b09" /><Relationship Type="http://schemas.openxmlformats.org/officeDocument/2006/relationships/slide" Target="/ppt/slides/slide3.xml" Id="Ra9f3a77f9418431b" /><Relationship Type="http://schemas.openxmlformats.org/officeDocument/2006/relationships/slide" Target="/ppt/slides/slide4.xml" Id="R8e0104faa68446cd" /><Relationship Type="http://schemas.openxmlformats.org/officeDocument/2006/relationships/slide" Target="/ppt/slides/slide5.xml" Id="Rce890125678b40ce" /><Relationship Type="http://schemas.openxmlformats.org/officeDocument/2006/relationships/slide" Target="/ppt/slides/slide6.xml" Id="R7fafb5858cfa48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fb8d7fce354f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bf766f01b149ca" /><Relationship Type="http://schemas.openxmlformats.org/officeDocument/2006/relationships/notesMaster" Target="/ppt/notesMasters/notesMaster1.xml" Id="Red95e45a628044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792d7a59d14411d" /><Relationship Type="http://schemas.openxmlformats.org/officeDocument/2006/relationships/notesMaster" Target="/ppt/notesMasters/notesMaster1.xml" Id="R19bdcbd7a0924e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788011c4084022" /><Relationship Type="http://schemas.openxmlformats.org/officeDocument/2006/relationships/notesMaster" Target="/ppt/notesMasters/notesMaster1.xml" Id="R76f8274c5d5242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4551fa84c54a3b" /><Relationship Type="http://schemas.openxmlformats.org/officeDocument/2006/relationships/notesMaster" Target="/ppt/notesMasters/notesMaster1.xml" Id="Rbaee229b690548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745d9ee45a41cf" /><Relationship Type="http://schemas.openxmlformats.org/officeDocument/2006/relationships/notesMaster" Target="/ppt/notesMasters/notesMaster1.xml" Id="R11c9693679234a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bce2da10b14a17" /><Relationship Type="http://schemas.openxmlformats.org/officeDocument/2006/relationships/notesMaster" Target="/ppt/notesMasters/notesMaster1.xml" Id="Rdfb77ad4e73c4e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публикации может не быть слова «казино»: только подарок, картинка и приглашение. SafeTrace сохраняет путь от исходного материала до назначения ссылки. Итог предназначен для ручной проверки; юридическую квалификацию система не делает.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SPEC.md; README.md; docs/PITCH.md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Открыть основной случай 4131fe31da734750a5abb2ecc5b1a8f9. Адрес go.safetrace.test/r/q7 извлечен из пикселей QR. Затем идут HTTP 302 на hub.safetrace.test/offer и видимая HTML-ссылка на arena.safetrace.test/welcome?ref=QALA7. Открытие страницы показывает сохраненный анализ, а не новое распознавание. Первичная загрузка нового PNG через браузер проверена отдельно. После установки зависимостей OCR и синтетический стенд работают на Windows/CPU офлайн.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reports/acceptance-v3/new-material-source.json; reports/acceptance-v3/browser-check.json; reports/ACCEPTANCE_V3.md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Второй материал начинается с go.safetrace.test/r/second и приходит к тому же назначению. В приложении выбрать «Этот случай», тип «Совпадение идентификатора», затем открыть стрелку. У связи пять источников: QR, два оригинальных материала, OCR и наблюдение назначения. Одинаковый код на разных сервисах не объединяется. История маршрута показывает контролируемое изменение назначения на магазин и обратно; старые ручные решения сохраняются отдельно.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reports/acceptance-v3/new-case-after-add.json; reports/acceptance-v3/route-change-check.json; reports/acceptance-v3/graph-labels-fixed.png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Случай 496bd70a156840eba53951597ef54826 содержит призыв и бонус в публикации, но назначение — предупреждение. Система отдельно оценивает текст материала и целевую страницу. На слайде выбранный понятный контрпример, а не заявление об отсутствии ложных тревог: в новом final-v3 есть один FP на приглашении к памятке. Индекс не является вероятностью нарушения; отсутствие достаточных данных отображается отдельно от низкого индекса.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reports/acceptance-v3/browser-check.json; reports/acceptance-v3/warning-page-evidence.png; reports/versions/synthetic-v3/error-analysis.json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Ядро зафиксировано до создания 80 новых входов. Полный процесс: TP32 FP1 TN39 FN8; precision 32/33=96,97%, recall 32/40=80%, FPR 1/40=2,5%. Недостаточно данных в 11 случаях, из них 7 положительных учитываются в FN. Baseline recall 12/40=30%; OCR-вариант 15/40=37,5%. На тех же входах полный процесс дает 80%. Это сравнение реализованных вариантов; отдельный вклад графа или OCR этим экспериментом не изолирован. Темы и шаблоны авторские и повторяются, независимой разметки нет. Точечные цели достигнуты на этом наборе, широкие интервалы не дают гарантии для популяции. После final правила не менялись.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reports/EVALUATION_V3.md; reports/versions/synthetic-v3/evaluation.json; reports/acceptance-v3/freeze-check.json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ZIP проверен после реального перезапуска: два материала, три предыдущих анализа, два ручных решения и пять файлов с проверенными хешами. Все 21 случая сохранились. Хеш удостоверяет целостность файла, а не автора, истинность или допустимость в суде. Живой Gemini без ключа, GPU и Linux не проверялись. Для пилота нужны разрешенные источники и независимые разметчики; измерять время работы аналитика и ложные тревоги. Для команды — docs/DEMO_V3.md, scripts/preflight.py и scripts/start.ps1 -Offline.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reports/acceptance-v3/final-export-check.json; reports/acceptance-v3/e2e-restart-check.json; reports/acceptance-v3/offline-check.json; docs/ROADMAP.md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f6335374145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a481aadbdc4de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8dc486fe714f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da30262e6748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5eb73216b84c0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396757fe8544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F43CB4-3956-484D-AC90-611A90F72A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AB9D063-F935-448B-96F9-B56027D267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282346-6D95-48AB-8824-1F6B52E9E8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9E7407-CB17-4F0F-9D5E-E032D4C335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F258E6-A5FF-4BA0-8983-E8385EE5B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41B750-CEEC-4378-A5A0-1F63953B32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1F7F757-C9F0-42E4-AC2C-1440999602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B5DB10-85D5-40FD-86B1-F311897A4C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A92E64-319F-4718-BA17-6945C51903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3BDDF16-CF82-4363-81D1-0C8F528A3D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330715f2fe4845" /><Relationship Type="http://schemas.openxmlformats.org/officeDocument/2006/relationships/slideLayout" Target="/ppt/slideLayouts/slideLayout1.xml" Id="R9e74632fd52a4c5e" /><Relationship Type="http://schemas.openxmlformats.org/officeDocument/2006/relationships/slideLayout" Target="/ppt/slideLayouts/slideLayout2.xml" Id="R8bb58b410ef94a39" /><Relationship Type="http://schemas.openxmlformats.org/officeDocument/2006/relationships/slideLayout" Target="/ppt/slideLayouts/slideLayout3.xml" Id="R561183021f5348dd" /><Relationship Type="http://schemas.openxmlformats.org/officeDocument/2006/relationships/slideLayout" Target="/ppt/slideLayouts/slideLayout4.xml" Id="R4016c20490d44f4c" /><Relationship Type="http://schemas.openxmlformats.org/officeDocument/2006/relationships/slideLayout" Target="/ppt/slideLayouts/slideLayout5.xml" Id="R82fbd9083ab14c8c" /><Relationship Type="http://schemas.openxmlformats.org/officeDocument/2006/relationships/slideLayout" Target="/ppt/slideLayouts/slideLayout6.xml" Id="R8625601fdad240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74632fd52a4c5e"/>
    <p:sldLayoutId xmlns:r="http://schemas.openxmlformats.org/officeDocument/2006/relationships" id="2147483650" r:id="R8bb58b410ef94a39"/>
    <p:sldLayoutId xmlns:r="http://schemas.openxmlformats.org/officeDocument/2006/relationships" id="2147483651" r:id="R561183021f5348dd"/>
    <p:sldLayoutId xmlns:r="http://schemas.openxmlformats.org/officeDocument/2006/relationships" id="2147483652" r:id="R4016c20490d44f4c"/>
    <p:sldLayoutId xmlns:r="http://schemas.openxmlformats.org/officeDocument/2006/relationships" id="2147483653" r:id="R82fbd9083ab14c8c"/>
    <p:sldLayoutId xmlns:r="http://schemas.openxmlformats.org/officeDocument/2006/relationships" id="2147483654" r:id="R8625601fdad240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7b9c2db2444835" /><Relationship Type="http://schemas.openxmlformats.org/officeDocument/2006/relationships/notesSlide" Target="/ppt/notesSlides/notesSlide1.xml" Id="Re32d03f1e8b049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6bf49acb6041b0" /><Relationship Type="http://schemas.openxmlformats.org/officeDocument/2006/relationships/image" Target="/ppt/media/image.png" Id="R041ff63ec31b44bb" /><Relationship Type="http://schemas.openxmlformats.org/officeDocument/2006/relationships/notesSlide" Target="/ppt/notesSlides/notesSlide2.xml" Id="R2aab587688e34d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20bc21c834632" /><Relationship Type="http://schemas.openxmlformats.org/officeDocument/2006/relationships/image" Target="/ppt/media/image.jpeg" Id="R56ff5da45bba449f" /><Relationship Type="http://schemas.openxmlformats.org/officeDocument/2006/relationships/notesSlide" Target="/ppt/notesSlides/notesSlide3.xml" Id="R445481e6912145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9261034d584657" /><Relationship Type="http://schemas.openxmlformats.org/officeDocument/2006/relationships/image" Target="/ppt/media/image2.jpeg" Id="R8b6f5c3f2cb2494f" /><Relationship Type="http://schemas.openxmlformats.org/officeDocument/2006/relationships/notesSlide" Target="/ppt/notesSlides/notesSlide4.xml" Id="Ra5173aa087014e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78d0f83cb04896" /><Relationship Type="http://schemas.openxmlformats.org/officeDocument/2006/relationships/chart" Target="/ppt/slides/charts/chart1.xml" Id="R229ef498301f4062" /><Relationship Type="http://schemas.openxmlformats.org/officeDocument/2006/relationships/notesSlide" Target="/ppt/notesSlides/notesSlide5.xml" Id="R6a383e62859645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16ac74c79145b4" /><Relationship Type="http://schemas.openxmlformats.org/officeDocument/2006/relationships/image" Target="/ppt/media/image3.jpeg" Id="R3f1c72d2d90445be" /><Relationship Type="http://schemas.openxmlformats.org/officeDocument/2006/relationships/notesSlide" Target="/ppt/notesSlides/notesSlide6.xml" Id="R97c06692e0cc4ce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Recall на одинаковых входах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 b="1">
              <a:solidFill>
                <a:srgbClr val="14243D"/>
              </a:solidFill>
              <a:latin typeface="Segoe UI"/>
              <a:ea typeface="Segoe UI"/>
              <a:cs typeface="Segoe U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Recall</c:v>
          </c:tx>
          <c:spPr>
            <a:solidFill xmlns:a="http://schemas.openxmlformats.org/drawingml/2006/main">
              <a:srgbClr val="2F5EB8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B8C7DF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F9DC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F5EB8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Ключевые слова</c:v>
                </c:pt>
                <c:pt idx="1">
                  <c:v>Текст + OCR</c:v>
                </c:pt>
                <c:pt idx="2">
                  <c:v>Полный процесс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0.3</c:v>
                </c:pt>
                <c:pt idx="1">
                  <c:v>0.375</c:v>
                </c:pt>
                <c:pt idx="2">
                  <c:v>0.8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4243D"/>
                  </a:solidFill>
                  <a:latin typeface="Segoe UI"/>
                  <a:ea typeface="Segoe UI"/>
                  <a:cs typeface="Segoe U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A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4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F59B2-13B1-42E4-B96E-F7EACE04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AABDD9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7B5AD-A3EF-43DF-AE23-663C8C10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57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SafeTrace KZ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F75E0-4C97-4EE1-824D-6EBF4168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10572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0">
                <a:solidFill>
                  <a:srgbClr val="DCE7F8"/>
                </a:solidFill>
                <a:latin typeface="Segoe UI"/>
                <a:ea typeface="Segoe UI"/>
                <a:cs typeface="Segoe UI"/>
              </a:defRPr>
            </a:defPPr>
            <a:lvl1pPr>
              <a:defRPr sz="3150" b="0">
                <a:solidFill>
                  <a:srgbClr val="DCE7F8"/>
                </a:solidFill>
                <a:latin typeface="Segoe UI"/>
                <a:ea typeface="Segoe UI"/>
                <a:cs typeface="Segoe UI"/>
              </a:defRPr>
            </a:lvl1pPr>
            <a:lvl2pPr>
              <a:defRPr sz="3150" b="0">
                <a:solidFill>
                  <a:srgbClr val="DCE7F8"/>
                </a:solidFill>
                <a:latin typeface="Segoe UI"/>
                <a:ea typeface="Segoe UI"/>
                <a:cs typeface="Segoe UI"/>
              </a:defRPr>
            </a:lvl2pPr>
            <a:lvl3pPr>
              <a:defRPr sz="3150" b="0">
                <a:solidFill>
                  <a:srgbClr val="DCE7F8"/>
                </a:solidFill>
                <a:latin typeface="Segoe UI"/>
                <a:ea typeface="Segoe UI"/>
                <a:cs typeface="Segoe UI"/>
              </a:defRPr>
            </a:lvl3pPr>
            <a:lvl4pPr>
              <a:defRPr sz="3150" b="0">
                <a:solidFill>
                  <a:srgbClr val="DCE7F8"/>
                </a:solidFill>
                <a:latin typeface="Segoe UI"/>
                <a:ea typeface="Segoe UI"/>
                <a:cs typeface="Segoe UI"/>
              </a:defRPr>
            </a:lvl4pPr>
            <a:lvl5pPr>
              <a:defRPr sz="3150" b="0">
                <a:solidFill>
                  <a:srgbClr val="DCE7F8"/>
                </a:solidFill>
                <a:latin typeface="Segoe UI"/>
                <a:ea typeface="Segoe UI"/>
                <a:cs typeface="Segoe UI"/>
              </a:defRPr>
            </a:lvl5pPr>
            <a:lvl6pPr>
              <a:defRPr sz="3150" b="0">
                <a:solidFill>
                  <a:srgbClr val="DCE7F8"/>
                </a:solidFill>
                <a:latin typeface="Segoe UI"/>
                <a:ea typeface="Segoe UI"/>
                <a:cs typeface="Segoe UI"/>
              </a:defRPr>
            </a:lvl6pPr>
            <a:lvl7pPr>
              <a:defRPr sz="3150" b="0">
                <a:solidFill>
                  <a:srgbClr val="DCE7F8"/>
                </a:solidFill>
                <a:latin typeface="Segoe UI"/>
                <a:ea typeface="Segoe UI"/>
                <a:cs typeface="Segoe UI"/>
              </a:defRPr>
            </a:lvl7pPr>
            <a:lvl8pPr>
              <a:defRPr sz="3150" b="0">
                <a:solidFill>
                  <a:srgbClr val="DCE7F8"/>
                </a:solidFill>
                <a:latin typeface="Segoe UI"/>
                <a:ea typeface="Segoe UI"/>
                <a:cs typeface="Segoe UI"/>
              </a:defRPr>
            </a:lvl8pPr>
            <a:lvl9pPr>
              <a:defRPr sz="3150" b="0">
                <a:solidFill>
                  <a:srgbClr val="DCE7F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DCE7F8"/>
                </a:solidFill>
                <a:latin typeface="Segoe UI"/>
                <a:ea typeface="Segoe UI"/>
                <a:cs typeface="Segoe UI"/>
              </a:defRPr>
            </a:pPr>
            <a:r>
              <a:rPr sz="3150" b="0">
                <a:solidFill>
                  <a:srgbClr val="DCE7F8"/>
                </a:solidFill>
                <a:latin typeface="Segoe UI"/>
                <a:ea typeface="Segoe UI"/>
                <a:cs typeface="Segoe UI"/>
              </a:rPr>
              <a:t>Проверка скрытого продвижения</a:t>
            </a:r>
          </a:p>
          <a:p xmlns:a="http://schemas.openxmlformats.org/drawingml/2006/main">
            <a:pPr>
              <a:defRPr sz="3150" b="0">
                <a:solidFill>
                  <a:srgbClr val="DCE7F8"/>
                </a:solidFill>
                <a:latin typeface="Segoe UI"/>
                <a:ea typeface="Segoe UI"/>
                <a:cs typeface="Segoe UI"/>
              </a:defRPr>
            </a:pPr>
            <a:r>
              <a:rPr sz="3150" b="0">
                <a:solidFill>
                  <a:srgbClr val="DCE7F8"/>
                </a:solidFill>
                <a:latin typeface="Segoe UI"/>
                <a:ea typeface="Segoe UI"/>
                <a:cs typeface="Segoe UI"/>
              </a:rPr>
              <a:t>игровых ресурсов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BE6C7-5700-465A-8A43-F8162125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AABDD9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AABDD9"/>
                </a:solidFill>
                <a:latin typeface="Segoe UI"/>
                <a:ea typeface="Segoe UI"/>
                <a:cs typeface="Segoe UI"/>
              </a:rPr>
              <a:t>SafeNet KZ · трек 2 «Скрытая игра»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4F7317-5B29-47AC-B3FC-BAFE35DA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Проверяемое досье для аналитика</a:t>
            </a:r>
          </a:p>
        </p:txBody>
      </p:sp>
    </p:spTree>
    <p:extLst>
      <p:ext uri="{BB962C8B-B14F-4D97-AF65-F5344CB8AC3E}">
        <p14:creationId xmlns:p14="http://schemas.microsoft.com/office/powerpoint/2010/main" val="10923669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7C0ED-793D-4F84-BE07-68F48DB3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Маршрут из изображения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BCC64-6B5A-4753-8EAF-BB647709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721EC-132D-485A-85A3-E784D470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22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22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22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22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22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22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22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22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22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225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Ссылка находится в QR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A05BD-2AAF-4AB1-93B6-3DCB8A76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452437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Изображение → QR</a:t>
            </a:r>
          </a:p>
          <a:p xmlns:a="http://schemas.openxmlformats.org/drawingml/2006/main">
            <a:pPr>
              <a:defRPr sz="2175" b="0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HTTP 302 → посредник</a:t>
            </a:r>
          </a:p>
          <a:p xmlns:a="http://schemas.openxmlformats.org/drawingml/2006/main">
            <a:pPr>
              <a:defRPr sz="2175" b="0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HTML-ссылка → назначение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3E139-605E-400F-81FB-2A7353A1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4619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5 строк настоящего OCR</a:t>
            </a:r>
          </a:p>
          <a:p xmlns:a="http://schemas.openxmlformats.org/drawingml/2006/main">
            <a: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Русский и казахский</a:t>
            </a:r>
          </a:p>
          <a:p xmlns:a="http://schemas.openxmlformats.org/drawingml/2006/main">
            <a: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Координаты на оригинале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A1A4C-6950-4625-BD74-CC556940C8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ff63ec31b44bb"/>
          <a:stretch xmlns:a="http://schemas.openxmlformats.org/drawingml/2006/main"/>
        </p:blipFill>
        <p:spPr>
          <a:xfrm xmlns:a="http://schemas.openxmlformats.org/drawingml/2006/main">
            <a:off x="5619750" y="1661288"/>
            <a:ext cx="5962650" cy="34973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4934D3-A77E-47E1-A047-83D560F7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10200"/>
            <a:ext cx="5962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Собственный синтетический пример</a:t>
            </a:r>
          </a:p>
        </p:txBody>
      </p:sp>
    </p:spTree>
    <p:extLst>
      <p:ext uri="{BB962C8B-B14F-4D97-AF65-F5344CB8AC3E}">
        <p14:creationId xmlns:p14="http://schemas.microsoft.com/office/powerpoint/2010/main" val="1640339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E322F3-213B-424B-B35D-C583530F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Источник каждой связи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3F6C7-80F9-4770-9661-18CB1070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6A800-B34A-4F65-B741-BB0DA583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2F5EB8"/>
                </a:solidFill>
                <a:latin typeface="Segoe UI"/>
                <a:ea typeface="Segoe UI"/>
                <a:cs typeface="Segoe UI"/>
              </a:rPr>
              <a:t>Два входа — один ref=QALA7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63172-198A-496E-9C78-A425452864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f5da45bba449f"/>
          <a:stretch xmlns:a="http://schemas.openxmlformats.org/drawingml/2006/main"/>
        </p:blipFill>
        <p:spPr>
          <a:xfrm xmlns:a="http://schemas.openxmlformats.org/drawingml/2006/main">
            <a:off x="2722596" y="2247900"/>
            <a:ext cx="6746808" cy="3190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771B3-A594-4F60-AE0F-32F1546D2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76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Область совпадения: сервис и путь.</a:t>
            </a:r>
          </a:p>
          <a:p xmlns:a="http://schemas.openxmlformats.org/drawingml/2006/main">
            <a: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Источники стрелки доступны; общий владелец не установлен.</a:t>
            </a:r>
          </a:p>
        </p:txBody>
      </p:sp>
    </p:spTree>
    <p:extLst>
      <p:ext uri="{BB962C8B-B14F-4D97-AF65-F5344CB8AC3E}">
        <p14:creationId xmlns:p14="http://schemas.microsoft.com/office/powerpoint/2010/main" val="4056623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A7A78-A30B-48B0-8B87-34C0D564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Контекст назначения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E829A-9768-4C7D-8C55-D4B8C39D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EC390-9ABF-4FBF-A04A-D61C056C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400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defPPr>
            <a:lvl1pPr>
              <a:defRPr sz="5400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1pPr>
            <a:lvl2pPr>
              <a:defRPr sz="5400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2pPr>
            <a:lvl3pPr>
              <a:defRPr sz="5400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3pPr>
            <a:lvl4pPr>
              <a:defRPr sz="5400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4pPr>
            <a:lvl5pPr>
              <a:defRPr sz="5400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5pPr>
            <a:lvl6pPr>
              <a:defRPr sz="5400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6pPr>
            <a:lvl7pPr>
              <a:defRPr sz="5400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7pPr>
            <a:lvl8pPr>
              <a:defRPr sz="5400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8pPr>
            <a:lvl9pPr>
              <a:defRPr sz="5400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5400" b="1">
                <a:solidFill>
                  <a:srgbClr val="326554"/>
                </a:solidFill>
                <a:latin typeface="Segoe UI"/>
                <a:ea typeface="Segoe UI"/>
                <a:cs typeface="Segoe UI"/>
              </a:defRPr>
            </a:pPr>
            <a:r>
              <a:rPr sz="5400" b="1">
                <a:solidFill>
                  <a:srgbClr val="326554"/>
                </a:solidFill>
                <a:latin typeface="Segoe UI"/>
                <a:ea typeface="Segoe UI"/>
                <a:cs typeface="Segoe UI"/>
              </a:rPr>
              <a:t>0 / 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36E46-DF48-4093-B0D4-D18CDA48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762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Приглашение ведет</a:t>
            </a:r>
          </a:p>
          <a:p xmlns:a="http://schemas.openxmlformats.org/drawingml/2006/main">
            <a:pPr>
              <a:defRPr sz="25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255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к предупреждению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C0209-3185-4507-B6EA-E22844AE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Достаточные данные</a:t>
            </a:r>
          </a:p>
          <a:p xmlns:a="http://schemas.openxmlformats.org/drawingml/2006/main">
            <a: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Цитаты сохранены</a:t>
            </a:r>
          </a:p>
          <a:p xmlns:a="http://schemas.openxmlformats.org/drawingml/2006/main">
            <a: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Решение — у аналитика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66104-4875-4E57-AE68-C1598B9A66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f5c3f2cb2494f"/>
          <a:stretch xmlns:a="http://schemas.openxmlformats.org/drawingml/2006/main"/>
        </p:blipFill>
        <p:spPr>
          <a:xfrm xmlns:a="http://schemas.openxmlformats.org/drawingml/2006/main">
            <a:off x="6485910" y="1524000"/>
            <a:ext cx="4573229" cy="4648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734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4F80C-8649-4149-BD8C-3D30068C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Новый синтетический тест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93ECAF-0FE4-4585-BC58-40B80571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D4AD3-3901-495A-BFF8-E57594B5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02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80 случаев · 32 изображения · авторская разметка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C3292FA8-ED48-4641-8557-7A372D657C62}"/>
              </a:ext>
            </a:extLst>
          </p:cNvPr>
          <p:cNvGraphicFramePr/>
          <p:nvPr/>
        </p:nvGraphicFramePr>
        <p:xfrm>
          <a:off xmlns:a="http://schemas.openxmlformats.org/drawingml/2006/main" x="609600" y="2171700"/>
          <a:ext xmlns:a="http://schemas.openxmlformats.org/drawingml/2006/main" cx="7219950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9ef498301f406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6C479-294D-4964-8939-5FBBC664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defPPr>
            <a:lvl1pPr>
              <a:defRPr sz="36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1pPr>
            <a:lvl2pPr>
              <a:defRPr sz="36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2pPr>
            <a:lvl3pPr>
              <a:defRPr sz="36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3pPr>
            <a:lvl4pPr>
              <a:defRPr sz="36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4pPr>
            <a:lvl5pPr>
              <a:defRPr sz="36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5pPr>
            <a:lvl6pPr>
              <a:defRPr sz="36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6pPr>
            <a:lvl7pPr>
              <a:defRPr sz="36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7pPr>
            <a:lvl8pPr>
              <a:defRPr sz="36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8pPr>
            <a:lvl9pPr>
              <a:defRPr sz="36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pPr>
            <a:r>
              <a:rPr sz="3600" b="1">
                <a:solidFill>
                  <a:srgbClr val="2F5EB8"/>
                </a:solidFill>
                <a:latin typeface="Segoe UI"/>
                <a:ea typeface="Segoe UI"/>
                <a:cs typeface="Segoe UI"/>
              </a:rPr>
              <a:t>96,97%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9DDF8E-1759-41B8-BA8E-9BD6CAEE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95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precision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00975-15D7-46D4-BCF9-B83C8F6F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2,5% FPR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A8F9E-8096-4DDE-9396-5D9C2CDF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243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270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69 / 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3C6A9-BD8D-45CE-B4DC-E06AD51E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387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достаточно данных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623F4-021D-46A6-8230-EA697E17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715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95%-интервалы: precision 84,68–99,46%; FPR 0,44–12,88%.</a:t>
            </a:r>
          </a:p>
          <a:p xmlns:a="http://schemas.openxmlformats.org/drawingml/2006/main">
            <a:pPr>
              <a:defRPr sz="180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7 положительных отказов входят в пропуски. Реальные соцсети не оценены.</a:t>
            </a:r>
          </a:p>
        </p:txBody>
      </p:sp>
    </p:spTree>
    <p:extLst>
      <p:ext uri="{BB962C8B-B14F-4D97-AF65-F5344CB8AC3E}">
        <p14:creationId xmlns:p14="http://schemas.microsoft.com/office/powerpoint/2010/main" val="15834642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E2A3D-D2A6-48E9-B8CD-60F32F23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Досье и следующий шаг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3459C-48FC-4E8C-958D-0448034E4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650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1E0CA-657F-477F-A5CF-2B16796A76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c72d2d90445be"/>
          <a:stretch xmlns:a="http://schemas.openxmlformats.org/drawingml/2006/main"/>
        </p:blipFill>
        <p:spPr>
          <a:xfrm xmlns:a="http://schemas.openxmlformats.org/drawingml/2006/main">
            <a:off x="609600" y="1661943"/>
            <a:ext cx="6143625" cy="345791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C729D-BB49-460B-B0EF-7C5AA144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6286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HTML + JSON + оригиналы</a:t>
            </a:r>
          </a:p>
          <a:p xmlns:a="http://schemas.openxmlformats.org/drawingml/2006/main">
            <a: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История анализа и решений</a:t>
            </a:r>
          </a:p>
          <a:p xmlns:a="http://schemas.openxmlformats.org/drawingml/2006/main">
            <a:pPr>
              <a:defRPr sz="18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187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SHA-256 файлов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AEEE2-D3AD-4517-8BC8-DCBC4B86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14500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defPPr>
            <a:lvl1pPr>
              <a:defRPr sz="24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1pPr>
            <a:lvl2pPr>
              <a:defRPr sz="24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2pPr>
            <a:lvl3pPr>
              <a:defRPr sz="24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3pPr>
            <a:lvl4pPr>
              <a:defRPr sz="24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4pPr>
            <a:lvl5pPr>
              <a:defRPr sz="24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5pPr>
            <a:lvl6pPr>
              <a:defRPr sz="24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6pPr>
            <a:lvl7pPr>
              <a:defRPr sz="24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7pPr>
            <a:lvl8pPr>
              <a:defRPr sz="24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8pPr>
            <a:lvl9pPr>
              <a:defRPr sz="24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4243D"/>
                </a:solidFill>
                <a:latin typeface="Segoe UI"/>
                <a:ea typeface="Segoe UI"/>
                <a:cs typeface="Segoe UI"/>
              </a:defRPr>
            </a:pPr>
            <a:r>
              <a:rPr sz="2400" b="1">
                <a:solidFill>
                  <a:srgbClr val="14243D"/>
                </a:solidFill>
                <a:latin typeface="Segoe UI"/>
                <a:ea typeface="Segoe UI"/>
                <a:cs typeface="Segoe UI"/>
              </a:rPr>
              <a:t>Независимый пилот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233F2-FC4C-491E-83ED-9454694F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09850"/>
            <a:ext cx="4191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defPPr>
            <a:lvl1pPr>
              <a:defRPr sz="21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1pPr>
            <a:lvl2pPr>
              <a:defRPr sz="21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2pPr>
            <a:lvl3pPr>
              <a:defRPr sz="21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3pPr>
            <a:lvl4pPr>
              <a:defRPr sz="21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4pPr>
            <a:lvl5pPr>
              <a:defRPr sz="21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5pPr>
            <a:lvl6pPr>
              <a:defRPr sz="21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6pPr>
            <a:lvl7pPr>
              <a:defRPr sz="21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7pPr>
            <a:lvl8pPr>
              <a:defRPr sz="21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8pPr>
            <a:lvl9pPr>
              <a:defRPr sz="21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Разрешенные источники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Два разметчика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Время аналитика</a:t>
            </a:r>
          </a:p>
          <a:p xmlns:a="http://schemas.openxmlformats.org/drawingml/2006/main">
            <a:pPr>
              <a:defRPr sz="2175" b="0">
                <a:solidFill>
                  <a:srgbClr val="526781"/>
                </a:solidFill>
                <a:latin typeface="Segoe UI"/>
                <a:ea typeface="Segoe UI"/>
                <a:cs typeface="Segoe UI"/>
              </a:defRPr>
            </a:pPr>
            <a:r>
              <a:rPr sz="2175" b="0">
                <a:solidFill>
                  <a:srgbClr val="526781"/>
                </a:solidFill>
                <a:latin typeface="Segoe UI"/>
                <a:ea typeface="Segoe UI"/>
                <a:cs typeface="Segoe UI"/>
              </a:rPr>
              <a:t>и ложные тревоги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0EB28-0B22-454D-A368-40761280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6959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defPPr>
            <a:lvl1pPr>
              <a:defRPr sz="18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1pPr>
            <a:lvl2pPr>
              <a:defRPr sz="18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2pPr>
            <a:lvl3pPr>
              <a:defRPr sz="18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3pPr>
            <a:lvl4pPr>
              <a:defRPr sz="18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4pPr>
            <a:lvl5pPr>
              <a:defRPr sz="18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5pPr>
            <a:lvl6pPr>
              <a:defRPr sz="18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6pPr>
            <a:lvl7pPr>
              <a:defRPr sz="18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7pPr>
            <a:lvl8pPr>
              <a:defRPr sz="18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8pPr>
            <a:lvl9pPr>
              <a:defRPr sz="18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F5EB8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2F5EB8"/>
                </a:solidFill>
                <a:latin typeface="Segoe UI"/>
                <a:ea typeface="Segoe UI"/>
                <a:cs typeface="Segoe UI"/>
              </a:rPr>
              <a:t>Windows · CPU · офлайн</a:t>
            </a:r>
          </a:p>
        </p:txBody>
      </p:sp>
    </p:spTree>
    <p:extLst>
      <p:ext uri="{BB962C8B-B14F-4D97-AF65-F5344CB8AC3E}">
        <p14:creationId xmlns:p14="http://schemas.microsoft.com/office/powerpoint/2010/main" val="18241553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2026-10-21T00:41:42.4840000Z</dcterms:created>
  <dcterms:modified xsi:type="dcterms:W3CDTF">2026-10-21T00:41:42.4840000Z</dcterms:modified>
</coreProperties>
</file>