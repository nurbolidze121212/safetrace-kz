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77568167e94d6e" /><Relationship Type="http://schemas.openxmlformats.org/officeDocument/2006/relationships/extended-properties" Target="/docProps/app.xml" Id="Rd41c5ef0d58c414a" /><Relationship Type="http://schemas.openxmlformats.org/officeDocument/2006/relationships/officeDocument" Target="/ppt/presentation.xml" Id="Red919622f51b4a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5a714d83c46c1"/>
  </p:sldMasterIdLst>
  <p:notesMasterIdLst>
    <p:notesMasterId xmlns:r="http://schemas.openxmlformats.org/officeDocument/2006/relationships" r:id="R67eeb9d3f7d440fb"/>
  </p:notesMasterIdLst>
  <p:sldIdLst>
    <p:sldId xmlns:r="http://schemas.openxmlformats.org/officeDocument/2006/relationships" id="256" r:id="Rd77a40018b8b40b4"/>
    <p:sldId xmlns:r="http://schemas.openxmlformats.org/officeDocument/2006/relationships" id="257" r:id="R1d1fee4e362d49d7"/>
    <p:sldId xmlns:r="http://schemas.openxmlformats.org/officeDocument/2006/relationships" id="258" r:id="R74e5dc9644f34996"/>
    <p:sldId xmlns:r="http://schemas.openxmlformats.org/officeDocument/2006/relationships" id="259" r:id="Rc4bac18477a24032"/>
    <p:sldId xmlns:r="http://schemas.openxmlformats.org/officeDocument/2006/relationships" id="260" r:id="R202232ea94a341a1"/>
    <p:sldId xmlns:r="http://schemas.openxmlformats.org/officeDocument/2006/relationships" id="261" r:id="R359efecc031049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501a5e6b9447e" /><Relationship Type="http://schemas.openxmlformats.org/officeDocument/2006/relationships/slideMaster" Target="/ppt/slideMasters/slideMaster1.xml" Id="Rc595a714d83c46c1" /><Relationship Type="http://schemas.openxmlformats.org/officeDocument/2006/relationships/notesMaster" Target="/ppt/notesMasters/notesMaster1.xml" Id="R67eeb9d3f7d440fb" /><Relationship Type="http://schemas.openxmlformats.org/officeDocument/2006/relationships/presProps" Target="/ppt/presProps.xml" Id="R9d348ef3063148a4" /><Relationship Type="http://schemas.openxmlformats.org/officeDocument/2006/relationships/tableStyles" Target="/ppt/tableStyles.xml" Id="R30e5a0d9aade4719" /><Relationship Type="http://schemas.openxmlformats.org/officeDocument/2006/relationships/slide" Target="/ppt/slides/slide1.xml" Id="Rd77a40018b8b40b4" /><Relationship Type="http://schemas.openxmlformats.org/officeDocument/2006/relationships/slide" Target="/ppt/slides/slide2.xml" Id="R1d1fee4e362d49d7" /><Relationship Type="http://schemas.openxmlformats.org/officeDocument/2006/relationships/slide" Target="/ppt/slides/slide3.xml" Id="R74e5dc9644f34996" /><Relationship Type="http://schemas.openxmlformats.org/officeDocument/2006/relationships/slide" Target="/ppt/slides/slide4.xml" Id="Rc4bac18477a24032" /><Relationship Type="http://schemas.openxmlformats.org/officeDocument/2006/relationships/slide" Target="/ppt/slides/slide5.xml" Id="R202232ea94a341a1" /><Relationship Type="http://schemas.openxmlformats.org/officeDocument/2006/relationships/slide" Target="/ppt/slides/slide6.xml" Id="R359efecc0310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1775bbf164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7c34db0234795" /><Relationship Type="http://schemas.openxmlformats.org/officeDocument/2006/relationships/notesMaster" Target="/ppt/notesMasters/notesMaster1.xml" Id="R89f1ef6bce78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0c1b1327f4fd4" /><Relationship Type="http://schemas.openxmlformats.org/officeDocument/2006/relationships/notesMaster" Target="/ppt/notesMasters/notesMaster1.xml" Id="R671247ffdebf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788c5c35b2453d" /><Relationship Type="http://schemas.openxmlformats.org/officeDocument/2006/relationships/notesMaster" Target="/ppt/notesMasters/notesMaster1.xml" Id="R2fd7bbf86ebc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4aa6d1bd184b0b" /><Relationship Type="http://schemas.openxmlformats.org/officeDocument/2006/relationships/notesMaster" Target="/ppt/notesMasters/notesMaster1.xml" Id="R8ed1333c7ded42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32d5ba96ae4921" /><Relationship Type="http://schemas.openxmlformats.org/officeDocument/2006/relationships/notesMaster" Target="/ppt/notesMasters/notesMaster1.xml" Id="Rb22ffd09487240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9bfa8b7244667" /><Relationship Type="http://schemas.openxmlformats.org/officeDocument/2006/relationships/notesMaster" Target="/ppt/notesMasters/notesMaster1.xml" Id="R69ed2bfeba7d40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SafeTrace помогает аналитику проверить скрытое продвижение игровых ресурсов. В публикации может не быть слова «казино»: только бонус, приглашение или QR. Мы собираем путь к назначению и сохраняем источник каждого вывода. Решение принимает человек; индекс показывает приоритет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SPEC.md; docs/PROJECT_REPORT_V4.md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Здесь новый материал проходит OCR и разрешённые переходы. В демо страницы синтетические, это явно подписано. HTTP-переход и ссылка внутри страницы — разные наблюдения. Второй материал можно связать по точному идентификатору в одной области назначения. Открытие стрелки показывает источник; совпадение не доказывает общего владельца.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reports/acceptance-v4/browser-acceptance.json; reports/acceptance-v4/browser-graph-evidence.png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Ошибка одной буквы может поменять назначение. Поэтому спорный URL не исправляется молча. Оригинал, координаты и первичный текст остаются; дополнительные чтения — только предложения. После явного уточнения начинается новый анализ с историей. Проверены отмена, повтор, перезапуск и настоящий ZIP. Ручной успех не прибавляется к автоматической точности.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docs/METHODOLOGY.md; reports/acceptance-v4/browser-lifecycle.json; reports/acceptance-v4/browser-cancel-export.json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 новых входов заморожены код, веса и протокол. На одинаковых 80 случаях ложные тревоги снизились с девяти до двух, но найдено 30 положительных из 40 вместо 31. Precision 93,75%, recall 75%, достаточные данные в 74 случаях. Шесть положительных отказов входят в пропуски. Девять классификаций исправлены, три ухудшились. Цели precision 95 и recall 80 не достигнуты. Интервалы широкие: precision 79,85–98,27%, recall 59,81–85,81%. Независимых разметчиков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reports/EVALUATION_V4.md; reports/versions/synthetic-v4/comparison.json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заявляем, что первичное распознавание стало точнее: оно одинаковое. Проверка остановила все девять неверных автоматически принятых адресов, но остановила и один правильный. Правильный набор среди подсказок доступен на 27 из 28 изображений; это потенциал ручной сверки. На изображениях общий recall снизился с 12 из 16 до 10 из 16. Казахские отрицания, межфразовая связь и повреждённые слова остаются задачами следующего цикла.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reports/ERROR_ANALYSIS_V4.md; reports/versions/synthetic-v4/evaluation.json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— досье с исходниками, наблюдениями и историей. Контрольные суммы подтверждают целостность, а не юридическую истинность. На текущем CPU холодный снимок занял 9,96 секунды, повтор с кэшем 0,196 секунды. Это технический замер, экономия времени человека не измерена. Следующий шаг — независимые разрешённые примеры, исправление выявленных причин на новом dev и замер работы аналитика. Видео имеет отдельную спецификацию; прямые эфиры и массовый сбор в MVP не входят.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reports/acceptance-v4/runtime.json; reports/acceptance-v4/offline-check.json; docs/ROADMAP.md; docs/VIDEO_NEXT.md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431e54ce74d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fff5dc8cc48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366c6ffcf4a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cf504f40c41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c4ffafd274c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cfc30d6ba40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15FEA5-89C5-457C-ACDE-A738E1C88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98607B-E388-4B10-9604-E2B4BDDAAD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ADFBB44-020B-4F27-9A16-8F3BE693F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F90DD1-9CC9-4360-811A-9670351D4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7CE9974-16DF-4DD2-8163-46B1924D2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4ABF8B-7E28-4A88-93AF-0EB2D2ED1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08D45C-BF34-4908-AA01-9246324577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E9F1BF-81C3-45B9-8DA0-85A79EE4CE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144B1C-3653-4B93-91E3-CB0E3DAF79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072549-DCC7-4D04-9353-6AD1C1BBAC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4621880924f17" /><Relationship Type="http://schemas.openxmlformats.org/officeDocument/2006/relationships/slideLayout" Target="/ppt/slideLayouts/slideLayout1.xml" Id="R4f67afdc7094446c" /><Relationship Type="http://schemas.openxmlformats.org/officeDocument/2006/relationships/slideLayout" Target="/ppt/slideLayouts/slideLayout2.xml" Id="R5045fa76e7f04a0b" /><Relationship Type="http://schemas.openxmlformats.org/officeDocument/2006/relationships/slideLayout" Target="/ppt/slideLayouts/slideLayout3.xml" Id="R090291d8b453487a" /><Relationship Type="http://schemas.openxmlformats.org/officeDocument/2006/relationships/slideLayout" Target="/ppt/slideLayouts/slideLayout4.xml" Id="R301b6ec5ace34b30" /><Relationship Type="http://schemas.openxmlformats.org/officeDocument/2006/relationships/slideLayout" Target="/ppt/slideLayouts/slideLayout5.xml" Id="R78e1fcd070014f91" /><Relationship Type="http://schemas.openxmlformats.org/officeDocument/2006/relationships/slideLayout" Target="/ppt/slideLayouts/slideLayout6.xml" Id="R2f3d3b5208f841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7afdc7094446c"/>
    <p:sldLayoutId xmlns:r="http://schemas.openxmlformats.org/officeDocument/2006/relationships" id="2147483650" r:id="R5045fa76e7f04a0b"/>
    <p:sldLayoutId xmlns:r="http://schemas.openxmlformats.org/officeDocument/2006/relationships" id="2147483651" r:id="R090291d8b453487a"/>
    <p:sldLayoutId xmlns:r="http://schemas.openxmlformats.org/officeDocument/2006/relationships" id="2147483652" r:id="R301b6ec5ace34b30"/>
    <p:sldLayoutId xmlns:r="http://schemas.openxmlformats.org/officeDocument/2006/relationships" id="2147483653" r:id="R78e1fcd070014f91"/>
    <p:sldLayoutId xmlns:r="http://schemas.openxmlformats.org/officeDocument/2006/relationships" id="2147483654" r:id="R2f3d3b5208f841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05c389269454d" /><Relationship Type="http://schemas.openxmlformats.org/officeDocument/2006/relationships/notesSlide" Target="/ppt/notesSlides/notesSlide1.xml" Id="R270482774b9642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1c6ddfe8ce4da9" /><Relationship Type="http://schemas.openxmlformats.org/officeDocument/2006/relationships/image" Target="/ppt/media/image.jpeg" Id="Re389c17d2451487b" /><Relationship Type="http://schemas.openxmlformats.org/officeDocument/2006/relationships/notesSlide" Target="/ppt/notesSlides/notesSlide2.xml" Id="Raee7760b990941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038f7a6754ab4" /><Relationship Type="http://schemas.openxmlformats.org/officeDocument/2006/relationships/image" Target="/ppt/media/image2.jpeg" Id="R0319c1f715214262" /><Relationship Type="http://schemas.openxmlformats.org/officeDocument/2006/relationships/notesSlide" Target="/ppt/notesSlides/notesSlide3.xml" Id="Rf609f1e54f2848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908062b1844b1" /><Relationship Type="http://schemas.openxmlformats.org/officeDocument/2006/relationships/chart" Target="/ppt/slides/charts/chart1.xml" Id="R11123fb1724249be" /><Relationship Type="http://schemas.openxmlformats.org/officeDocument/2006/relationships/notesSlide" Target="/ppt/notesSlides/notesSlide4.xml" Id="R94b434900c0745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54d9b688f4098" /><Relationship Type="http://schemas.openxmlformats.org/officeDocument/2006/relationships/chart" Target="/ppt/slides/charts/chart2.xml" Id="R1983e6642b994587" /><Relationship Type="http://schemas.openxmlformats.org/officeDocument/2006/relationships/notesSlide" Target="/ppt/notesSlides/notesSlide5.xml" Id="R96cb0a2c931b42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4c55f371f49cd" /><Relationship Type="http://schemas.openxmlformats.org/officeDocument/2006/relationships/notesSlide" Target="/ppt/notesSlides/notesSlide6.xml" Id="R08cf7cc42cd34e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v3</c:v>
          </c:tx>
          <c:spPr>
            <a:solidFill xmlns:a="http://schemas.openxmlformats.org/drawingml/2006/main">
              <a:srgbClr val="B8C7DF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Найдено из 40</c:v>
                </c:pt>
                <c:pt idx="1">
                  <c:v>Ложных из 40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31</c:v>
                </c:pt>
                <c:pt idx="1">
                  <c:v>9</c:v>
                </c:pt>
              </c:numCache>
            </c:numRef>
          </c:val>
        </c:ser>
        <c:ser>
          <c:idx val="1"/>
          <c:order val="1"/>
          <c:tx>
            <c:v>v4</c:v>
          </c:tx>
          <c:spPr>
            <a:solidFill xmlns:a="http://schemas.openxmlformats.org/drawingml/2006/main">
              <a:srgbClr val="2F5EB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Найдено из 40</c:v>
                </c:pt>
                <c:pt idx="1">
                  <c:v>Ложных из 40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30</c:v>
                </c:pt>
                <c:pt idx="1">
                  <c:v>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43D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526781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v3</c:v>
          </c:tx>
          <c:spPr>
            <a:solidFill xmlns:a="http://schemas.openxmlformats.org/drawingml/2006/main">
              <a:srgbClr val="B8C7DF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Правильных</c:v>
                </c:pt>
                <c:pt idx="1">
                  <c:v>Неверных</c:v>
                </c:pt>
                <c:pt idx="2">
                  <c:v>Пропущенных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22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v>v4</c:v>
          </c:tx>
          <c:spPr>
            <a:solidFill xmlns:a="http://schemas.openxmlformats.org/drawingml/2006/main">
              <a:srgbClr val="2F5EB8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Правильных</c:v>
                </c:pt>
                <c:pt idx="1">
                  <c:v>Неверных</c:v>
                </c:pt>
                <c:pt idx="2">
                  <c:v>Пропущенных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21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4243D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526781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F068F-9384-40FE-B704-3FBAADD9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AABDD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E6BB0-4571-4D74-8436-2BED2ADD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SafeTrace KZ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94598-1932-4611-926F-60A3D12B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Проверка скрытого продвижения</a:t>
            </a:r>
          </a:p>
          <a:p xmlns:a="http://schemas.openxmlformats.org/drawingml/2006/main">
            <a:pPr>
              <a:defRPr sz="31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игровых ресурсов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5FABC-F1F2-4107-94C0-9639EAA6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ABDD9"/>
                </a:solidFill>
                <a:latin typeface="Segoe UI"/>
                <a:ea typeface="Segoe UI"/>
                <a:cs typeface="Segoe UI"/>
              </a:rPr>
              <a:t>Трек 2 «Скрытая игра» · локальный MVP</a:t>
            </a:r>
          </a:p>
        </p:txBody>
      </p:sp>
    </p:spTree>
    <p:extLst>
      <p:ext uri="{BB962C8B-B14F-4D97-AF65-F5344CB8AC3E}">
        <p14:creationId xmlns:p14="http://schemas.microsoft.com/office/powerpoint/2010/main" val="586356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587FA-FAE2-4CB4-A7F7-A9EC1B2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Проверяемый маршрут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A4EBC-4A2F-4807-AF4A-84F0D24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CAE79-9833-455A-963C-C7C3C50C1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9c17d2451487b"/>
          <a:stretch xmlns:a="http://schemas.openxmlformats.org/drawingml/2006/main"/>
        </p:blipFill>
        <p:spPr>
          <a:xfrm xmlns:a="http://schemas.openxmlformats.org/drawingml/2006/main">
            <a:off x="2213477" y="1495425"/>
            <a:ext cx="7765046" cy="436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D295A-D7F0-4313-8275-32697EE8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Материал → посредник → назначение → источник связи</a:t>
            </a:r>
          </a:p>
        </p:txBody>
      </p:sp>
    </p:spTree>
    <p:extLst>
      <p:ext uri="{BB962C8B-B14F-4D97-AF65-F5344CB8AC3E}">
        <p14:creationId xmlns:p14="http://schemas.microsoft.com/office/powerpoint/2010/main" val="14449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32B17-DE87-4FD2-816E-FD5D0A65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Сверка спорного адреса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F9AC2-245D-4569-A666-058DBF3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33A06-8934-4513-9C69-379DFB23F4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9c1f715214262"/>
          <a:srcRect xmlns:a="http://schemas.openxmlformats.org/drawingml/2006/main" l="53000" t="24000" r="4000" b="27000"/>
          <a:stretch xmlns:a="http://schemas.openxmlformats.org/drawingml/2006/main"/>
        </p:blipFill>
        <p:spPr>
          <a:xfrm xmlns:a="http://schemas.openxmlformats.org/drawingml/2006/main">
            <a:off x="609600" y="2190750"/>
            <a:ext cx="5238750" cy="3495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617D5-8E87-4840-BD80-7407C3A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43075"/>
            <a:ext cx="5162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Сырой OCR остаётся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CF144-0FA4-4AD3-BD10-AA6BFC62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81275"/>
            <a:ext cx="5162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Спорный адрес остановлен.</a:t>
            </a:r>
          </a:p>
          <a:p xmlns:a="http://schemas.openxmlformats.org/drawingml/2006/main">
            <a: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Аналитик сверяет оригинал</a:t>
            </a:r>
          </a:p>
          <a:p xmlns:a="http://schemas.openxmlformats.org/drawingml/2006/main">
            <a: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и явно выбирает уточнение.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3FCFE-CE38-41B9-9460-8C42627F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5775"/>
            <a:ext cx="5162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Новый анализ сохраняет</a:t>
            </a:r>
          </a:p>
          <a:p xmlns:a="http://schemas.openxmlformats.org/drawingml/2006/main">
            <a:pPr>
              <a:defRPr sz="2625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предыдущую попытку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84707-44D0-4D34-889A-6AE81F69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0070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2F5EB8"/>
                </a:solidFill>
                <a:latin typeface="Segoe UI"/>
                <a:ea typeface="Segoe UI"/>
                <a:cs typeface="Segoe UI"/>
              </a:rPr>
              <a:t>Ручной результат отдельно от автоматических метрик</a:t>
            </a:r>
          </a:p>
        </p:txBody>
      </p:sp>
    </p:spTree>
    <p:extLst>
      <p:ext uri="{BB962C8B-B14F-4D97-AF65-F5344CB8AC3E}">
        <p14:creationId xmlns:p14="http://schemas.microsoft.com/office/powerpoint/2010/main" val="6912243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926CB-9D7E-4048-BC7C-83B2265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Сравнение на новых 80 случаях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6FF40-74FB-4DAA-A97C-A526ACC3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00431-892D-4AD7-8CDD-524689BA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40 положительных · 40 отрицательных · авторский синтетический набор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6AE2E1F-8C85-4547-B597-7A751AB2DADD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7429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123fb1724249b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9DE87-F1CB-4029-ADBC-E7EF8FC4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defPPr>
            <a:lvl1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1pPr>
            <a:lvl2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2pPr>
            <a:lvl3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3pPr>
            <a:lvl4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4pPr>
            <a:lvl5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5pPr>
            <a:lvl6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6pPr>
            <a:lvl7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7pPr>
            <a:lvl8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8pPr>
            <a:lvl9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pPr>
            <a:r>
              <a:rPr sz="3675" b="1">
                <a:solidFill>
                  <a:srgbClr val="2F5EB8"/>
                </a:solidFill>
                <a:latin typeface="Segoe UI"/>
                <a:ea typeface="Segoe UI"/>
                <a:cs typeface="Segoe UI"/>
              </a:rPr>
              <a:t>93,75%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211EA-1373-42AB-9628-BA8CA43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67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precision v4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2DC66-6E3B-405B-BA00-E405DFC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75%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88F52-AFD0-4B05-8C4F-B6A637C1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74 / 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E5B55-83FF-4097-8DE5-E223B4DF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625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достаточно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C94DA-8204-4942-9E0A-3F0A30D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9 классификаций исправлены, 3 ухудшились. Цели 95% precision / 80% recall не достигнуты.</a:t>
            </a:r>
          </a:p>
        </p:txBody>
      </p:sp>
    </p:spTree>
    <p:extLst>
      <p:ext uri="{BB962C8B-B14F-4D97-AF65-F5344CB8AC3E}">
        <p14:creationId xmlns:p14="http://schemas.microsoft.com/office/powerpoint/2010/main" val="1741341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F20DF-C42A-4FFE-B811-7933B6C8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Автоматическое принятие OCR-адресов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FBEBB-2EC5-4EB6-8F54-27A22074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64DF0-6034-48DD-80A3-6076370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31 ожидаемый URL на 28 изображениях с видимым адресом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DB61A98-8072-468C-A50B-EFD25B0BCBB5}"/>
              </a:ext>
            </a:extLst>
          </p:cNvPr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83e6642b99458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43FA-F2A8-4955-AC38-EF3E1F3A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Первичное OCR одинаковое. Правильный набор среди подсказок: 27/28. QR: 8/8.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CD7BF-EFCB-448A-9EFF-4F48EFE4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Полный процесс на изображениях: recall 12/16 → 10/16; ложные тревоги 2 → 0.</a:t>
            </a:r>
          </a:p>
        </p:txBody>
      </p:sp>
    </p:spTree>
    <p:extLst>
      <p:ext uri="{BB962C8B-B14F-4D97-AF65-F5344CB8AC3E}">
        <p14:creationId xmlns:p14="http://schemas.microsoft.com/office/powerpoint/2010/main" val="700221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50210-0D64-40B1-82AC-76F20263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Досье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FD25F-4B1C-4685-B7D3-A8EEB962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E0F53-9071-45BC-B482-D29C0C0B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Проверенный локальный процесс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62029-B98E-4001-9758-A0A2EB43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6477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Оригиналы, наблюдения и история</a:t>
            </a:r>
          </a:p>
          <a:p xmlns:a="http://schemas.openxmlformats.org/drawingml/2006/main">
            <a: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HTML + JSON + SHA-256</a:t>
            </a:r>
          </a:p>
          <a:p xmlns:a="http://schemas.openxmlformats.org/drawingml/2006/main">
            <a:pPr>
              <a:defRPr sz="23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Windows CPU, без облачного ключа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D92A1-EE34-45F5-94D9-14280772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95575"/>
            <a:ext cx="3829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Независимая проверка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EFD82-FE63-406C-B80D-4FD303C8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81425"/>
            <a:ext cx="3829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Новые разрешённые примеры</a:t>
            </a:r>
          </a:p>
          <a:p xmlns:a="http://schemas.openxmlformats.org/drawingml/2006/main">
            <a: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Разметка двумя людьми</a:t>
            </a:r>
          </a:p>
          <a:p xmlns:a="http://schemas.openxmlformats.org/drawingml/2006/main">
            <a:pPr>
              <a:defRPr sz="21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Время аналитика и ошибки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1349E-FF28-4B1F-9CB3-14D1E9BF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26554"/>
                </a:solidFill>
                <a:latin typeface="Segoe UI"/>
                <a:ea typeface="Segoe UI"/>
                <a:cs typeface="Segoe UI"/>
              </a:rPr>
              <a:t>Холодный снимок 9,96 с · повтор с кэшем 0,196 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02F0A-99D2-4781-AC27-2ED61540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Видео — следующий ограниченный этап; спецификация подготовлена</a:t>
            </a:r>
          </a:p>
        </p:txBody>
      </p:sp>
    </p:spTree>
    <p:extLst>
      <p:ext uri="{BB962C8B-B14F-4D97-AF65-F5344CB8AC3E}">
        <p14:creationId xmlns:p14="http://schemas.microsoft.com/office/powerpoint/2010/main" val="2079736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2026-10-21T21:09:16.5720000Z</dcterms:created>
  <dcterms:modified xsi:type="dcterms:W3CDTF">2026-10-21T21:09:16.5720000Z</dcterms:modified>
</coreProperties>
</file>